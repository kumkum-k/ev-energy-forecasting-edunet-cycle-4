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867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867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867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867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867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867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867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867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867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92" orient="horz"/>
        <p:guide pos="192"/>
        <p:guide pos="108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github.com/kumkum-k/EV-Energy-Forecasting-Edunet-Cycle-4/tree/mai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sitting at a desk with a computer&#10;&#10;Description automatically generated" id="2053" name="Google Shape;2053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4" name="Google Shape;2054;p1"/>
          <p:cNvSpPr/>
          <p:nvPr/>
        </p:nvSpPr>
        <p:spPr>
          <a:xfrm>
            <a:off x="5873750" y="584200"/>
            <a:ext cx="4673700" cy="978000"/>
          </a:xfrm>
          <a:prstGeom prst="roundRect">
            <a:avLst>
              <a:gd fmla="val 16667" name="adj"/>
            </a:avLst>
          </a:prstGeom>
          <a:solidFill>
            <a:srgbClr val="EBEEF9"/>
          </a:solidFill>
          <a:ln cap="flat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5" name="Google Shape;2055;p1"/>
          <p:cNvSpPr txBox="1"/>
          <p:nvPr/>
        </p:nvSpPr>
        <p:spPr>
          <a:xfrm>
            <a:off x="4151586" y="2825055"/>
            <a:ext cx="687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DriveCast </a:t>
            </a:r>
            <a:r>
              <a:rPr b="1" i="0" lang="en-IN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6" name="Google Shape;2056;p1"/>
          <p:cNvGrpSpPr/>
          <p:nvPr/>
        </p:nvGrpSpPr>
        <p:grpSpPr>
          <a:xfrm>
            <a:off x="6890510" y="742085"/>
            <a:ext cx="2640036" cy="664374"/>
            <a:chOff x="2375536" y="1112060"/>
            <a:chExt cx="3292636" cy="828603"/>
          </a:xfrm>
        </p:grpSpPr>
        <p:pic>
          <p:nvPicPr>
            <p:cNvPr descr="A close up of a logo&#10;&#10;Description automatically generated" id="2057" name="Google Shape;2057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yellow and red shell logo&#10;&#10;Description automatically generated" id="2058" name="Google Shape;2058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9" name="Google Shape;2059;p1"/>
          <p:cNvSpPr txBox="1"/>
          <p:nvPr/>
        </p:nvSpPr>
        <p:spPr>
          <a:xfrm>
            <a:off x="8434070" y="3840718"/>
            <a:ext cx="32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Presented By: Kumkum K</a:t>
            </a:r>
            <a:endParaRPr/>
          </a:p>
        </p:txBody>
      </p:sp>
      <p:sp>
        <p:nvSpPr>
          <p:cNvPr id="2060" name="Google Shape;2060;p1"/>
          <p:cNvSpPr txBox="1"/>
          <p:nvPr/>
        </p:nvSpPr>
        <p:spPr>
          <a:xfrm rot="-1321">
            <a:off x="5354275" y="5635892"/>
            <a:ext cx="23424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</a:rPr>
              <a:t>GitHub Repo: </a:t>
            </a:r>
            <a:r>
              <a:rPr lang="en-IN" sz="1800" u="sng">
                <a:solidFill>
                  <a:schemeClr val="hlink"/>
                </a:solidFill>
                <a:hlinkClick r:id="rId5"/>
              </a:rPr>
              <a:t>Link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33336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213163"/>
                </a:solidFill>
              </a:rPr>
              <a:t>Learning Objectives</a:t>
            </a:r>
            <a:endParaRPr lang="en-IN" sz="2400" dirty="0">
              <a:solidFill>
                <a:srgbClr val="213163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>
            <a:cxnSpLocks/>
          </p:cNvCxnSpPr>
          <p:nvPr/>
        </p:nvCxnSpPr>
        <p:spPr>
          <a:xfrm>
            <a:off x="81280" y="6858000"/>
            <a:ext cx="121107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5000"/>
          </a:blip>
          <a:srcRect l="13763" t="6135" r="13650"/>
          <a:stretch/>
        </p:blipFill>
        <p:spPr>
          <a:xfrm>
            <a:off x="8011338" y="1431760"/>
            <a:ext cx="3987622" cy="4104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9367520" y="3046689"/>
            <a:ext cx="15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28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D1D46-381E-C038-3430-73332C1773C9}"/>
              </a:ext>
            </a:extLst>
          </p:cNvPr>
          <p:cNvSpPr txBox="1"/>
          <p:nvPr/>
        </p:nvSpPr>
        <p:spPr>
          <a:xfrm>
            <a:off x="249098" y="1638146"/>
            <a:ext cx="74115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/>
              <a:t>Develop machine learning models to accurately predict EV energy consumption based on real-world driving and environmental factors.</a:t>
            </a:r>
          </a:p>
          <a:p>
            <a:pPr algn="just"/>
            <a:endParaRPr lang="en-US" sz="1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/>
              <a:t>Perform comprehensive data preprocessing and exploratory data analysis to understand key variables influencing EV energy usage.</a:t>
            </a:r>
          </a:p>
          <a:p>
            <a:pPr algn="just"/>
            <a:endParaRPr lang="en-US" sz="1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/>
              <a:t>Apply and evaluate multiple regression algorithms and select the optimal model using advanced hyperparameter tuning with </a:t>
            </a:r>
            <a:r>
              <a:rPr lang="en-US" sz="1800" dirty="0" err="1"/>
              <a:t>Optuna</a:t>
            </a:r>
            <a:r>
              <a:rPr lang="en-US" sz="1800" dirty="0"/>
              <a:t>.</a:t>
            </a:r>
          </a:p>
          <a:p>
            <a:pPr algn="just"/>
            <a:endParaRPr lang="en-US" sz="1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/>
              <a:t>Build an interactive What-If Analysis tool that simulates different driving conditions and demonstrates the practical applicability of ML predictions.</a:t>
            </a:r>
          </a:p>
          <a:p>
            <a:pPr algn="just"/>
            <a:endParaRPr lang="en-US" sz="1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/>
              <a:t>Deploy the final trained model through a user-friendly </a:t>
            </a:r>
            <a:r>
              <a:rPr lang="en-US" sz="1800" dirty="0" err="1"/>
              <a:t>Gradio</a:t>
            </a:r>
            <a:r>
              <a:rPr lang="en-US" sz="1800" dirty="0"/>
              <a:t> interface for real-time EV energy forecasting and scenario simulation.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15514" y="905104"/>
            <a:ext cx="610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13163"/>
                </a:solidFill>
              </a:rPr>
              <a:t>T</a:t>
            </a:r>
            <a:r>
              <a:rPr lang="en-IN" sz="2400" b="1" dirty="0">
                <a:solidFill>
                  <a:srgbClr val="213163"/>
                </a:solidFill>
              </a:rPr>
              <a:t>ools and Technology used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7FAAB-1E5B-8580-505E-58D473F8AE9E}"/>
              </a:ext>
            </a:extLst>
          </p:cNvPr>
          <p:cNvSpPr txBox="1"/>
          <p:nvPr/>
        </p:nvSpPr>
        <p:spPr>
          <a:xfrm>
            <a:off x="215900" y="1493521"/>
            <a:ext cx="5687060" cy="499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/>
              <a:t>1. Programming Language</a:t>
            </a:r>
          </a:p>
          <a:p>
            <a:pPr>
              <a:lnSpc>
                <a:spcPct val="150000"/>
              </a:lnSpc>
              <a:buNone/>
            </a:pPr>
            <a:r>
              <a:rPr lang="en-IN" sz="1400" b="1" dirty="0"/>
              <a:t>Python</a:t>
            </a:r>
            <a:r>
              <a:rPr lang="en-IN" sz="1400" dirty="0"/>
              <a:t> – Core language for data processing, modelling, and simulation.</a:t>
            </a:r>
          </a:p>
          <a:p>
            <a:pPr>
              <a:lnSpc>
                <a:spcPct val="150000"/>
              </a:lnSpc>
              <a:buNone/>
            </a:pPr>
            <a:endParaRPr lang="en-IN" sz="1100" dirty="0"/>
          </a:p>
          <a:p>
            <a:pPr>
              <a:lnSpc>
                <a:spcPct val="150000"/>
              </a:lnSpc>
              <a:buNone/>
            </a:pPr>
            <a:r>
              <a:rPr lang="en-IN" sz="1600" b="1" dirty="0"/>
              <a:t>2. Data Handling &amp; Analysis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Pandas</a:t>
            </a:r>
            <a:r>
              <a:rPr lang="en-IN" sz="1400" dirty="0"/>
              <a:t> – Data cleaning, preprocessing, and manipulation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NumPy</a:t>
            </a:r>
            <a:r>
              <a:rPr lang="en-IN" sz="1400" dirty="0"/>
              <a:t> – Numerical computations and feature preparation</a:t>
            </a:r>
          </a:p>
          <a:p>
            <a:pPr>
              <a:lnSpc>
                <a:spcPct val="150000"/>
              </a:lnSpc>
            </a:pPr>
            <a:endParaRPr lang="en-IN" sz="1100" dirty="0"/>
          </a:p>
          <a:p>
            <a:pPr>
              <a:lnSpc>
                <a:spcPct val="150000"/>
              </a:lnSpc>
              <a:buNone/>
            </a:pPr>
            <a:r>
              <a:rPr lang="en-IN" sz="1600" b="1" dirty="0"/>
              <a:t>3. Machine Learning &amp; Modelling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Scikit-Learn</a:t>
            </a:r>
            <a:r>
              <a:rPr lang="en-IN" sz="1400" dirty="0"/>
              <a:t> – Regression models, preprocessing pipelines, evaluation metrics</a:t>
            </a:r>
          </a:p>
          <a:p>
            <a:pPr>
              <a:lnSpc>
                <a:spcPct val="150000"/>
              </a:lnSpc>
            </a:pPr>
            <a:r>
              <a:rPr lang="en-IN" sz="1400" b="1" dirty="0" err="1"/>
              <a:t>XGBoost</a:t>
            </a:r>
            <a:r>
              <a:rPr lang="en-IN" sz="1400" b="1" dirty="0"/>
              <a:t> / Random Forest</a:t>
            </a:r>
            <a:r>
              <a:rPr lang="en-IN" sz="1400" dirty="0"/>
              <a:t> – Advanced ML algorithms used for energy prediction</a:t>
            </a:r>
          </a:p>
          <a:p>
            <a:pPr>
              <a:lnSpc>
                <a:spcPct val="150000"/>
              </a:lnSpc>
            </a:pPr>
            <a:r>
              <a:rPr lang="en-IN" sz="1400" b="1" dirty="0" err="1"/>
              <a:t>Optuna</a:t>
            </a:r>
            <a:r>
              <a:rPr lang="en-IN" sz="1400" dirty="0"/>
              <a:t> – Automated hyperparameter tuning for selecting the best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6453C-6817-1A21-67BA-A09AC77A010C}"/>
              </a:ext>
            </a:extLst>
          </p:cNvPr>
          <p:cNvSpPr txBox="1"/>
          <p:nvPr/>
        </p:nvSpPr>
        <p:spPr>
          <a:xfrm>
            <a:off x="6289042" y="1493521"/>
            <a:ext cx="5453378" cy="425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/>
              <a:t>4. Visualization Tools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Matplotlib</a:t>
            </a:r>
            <a:r>
              <a:rPr lang="en-IN" sz="1400" dirty="0"/>
              <a:t> – Line charts, scatter plots, trend visuals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Seaborn</a:t>
            </a:r>
            <a:r>
              <a:rPr lang="en-IN" sz="1400" dirty="0"/>
              <a:t> – Heatmaps and statistical visualizations</a:t>
            </a:r>
          </a:p>
          <a:p>
            <a:pPr>
              <a:lnSpc>
                <a:spcPct val="150000"/>
              </a:lnSpc>
            </a:pPr>
            <a:endParaRPr lang="en-IN" sz="1100" b="1" dirty="0"/>
          </a:p>
          <a:p>
            <a:pPr>
              <a:lnSpc>
                <a:spcPct val="150000"/>
              </a:lnSpc>
              <a:buNone/>
            </a:pPr>
            <a:r>
              <a:rPr lang="en-IN" sz="1600" b="1" dirty="0"/>
              <a:t>5. Deployment &amp; User Interaction</a:t>
            </a:r>
          </a:p>
          <a:p>
            <a:pPr>
              <a:lnSpc>
                <a:spcPct val="150000"/>
              </a:lnSpc>
            </a:pPr>
            <a:r>
              <a:rPr lang="en-IN" sz="1400" b="1" dirty="0" err="1"/>
              <a:t>Gradio</a:t>
            </a:r>
            <a:r>
              <a:rPr lang="en-IN" sz="1400" dirty="0"/>
              <a:t> – Interactive UI for What-If Analysis and real-time energy prediction</a:t>
            </a:r>
          </a:p>
          <a:p>
            <a:pPr>
              <a:lnSpc>
                <a:spcPct val="150000"/>
              </a:lnSpc>
            </a:pPr>
            <a:endParaRPr lang="en-IN" sz="1100" dirty="0"/>
          </a:p>
          <a:p>
            <a:pPr>
              <a:lnSpc>
                <a:spcPct val="150000"/>
              </a:lnSpc>
              <a:buNone/>
            </a:pPr>
            <a:r>
              <a:rPr lang="en-IN" sz="1600" b="1" dirty="0"/>
              <a:t>6. Development Environment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Google Colab</a:t>
            </a:r>
            <a:r>
              <a:rPr lang="en-IN" sz="1400" dirty="0"/>
              <a:t> – Experimentation, model training, documentation</a:t>
            </a:r>
          </a:p>
          <a:p>
            <a:pPr>
              <a:lnSpc>
                <a:spcPct val="150000"/>
              </a:lnSpc>
            </a:pPr>
            <a:endParaRPr lang="en-IN" sz="1100" dirty="0"/>
          </a:p>
          <a:p>
            <a:pPr>
              <a:lnSpc>
                <a:spcPct val="150000"/>
              </a:lnSpc>
              <a:buNone/>
            </a:pPr>
            <a:r>
              <a:rPr lang="en-IN" sz="1600" b="1" dirty="0"/>
              <a:t>7. Version Control</a:t>
            </a:r>
          </a:p>
          <a:p>
            <a:pPr>
              <a:lnSpc>
                <a:spcPct val="150000"/>
              </a:lnSpc>
            </a:pPr>
            <a:r>
              <a:rPr lang="en-IN" sz="1400" b="1" dirty="0"/>
              <a:t>GitHub</a:t>
            </a:r>
            <a:r>
              <a:rPr lang="en-IN" sz="1400" dirty="0"/>
              <a:t> – Code management and project hosting</a:t>
            </a: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13163"/>
                </a:solidFill>
              </a:rPr>
              <a:t>Methodology </a:t>
            </a:r>
            <a:endParaRPr lang="en-IN" sz="2400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B31B9-83EA-7535-02CA-FBDD106F07DB}"/>
              </a:ext>
            </a:extLst>
          </p:cNvPr>
          <p:cNvSpPr txBox="1"/>
          <p:nvPr/>
        </p:nvSpPr>
        <p:spPr>
          <a:xfrm>
            <a:off x="268356" y="1567845"/>
            <a:ext cx="10695940" cy="4709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800" b="1" dirty="0"/>
              <a:t>1. Data Collection &amp; Understanding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Loaded EV Energy Consumption dataset (5,000+ records, 19 features).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Studied key variables: speed, distance, temperature, terrain, load, wind speed, etc.</a:t>
            </a:r>
          </a:p>
          <a:p>
            <a:pPr algn="just">
              <a:lnSpc>
                <a:spcPct val="150000"/>
              </a:lnSpc>
            </a:pPr>
            <a:endParaRPr lang="en-IN" sz="1100" dirty="0"/>
          </a:p>
          <a:p>
            <a:pPr algn="just">
              <a:lnSpc>
                <a:spcPct val="150000"/>
              </a:lnSpc>
              <a:buNone/>
            </a:pPr>
            <a:r>
              <a:rPr lang="en-IN" sz="1800" b="1" dirty="0"/>
              <a:t>2. Data Preprocessing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Handled missing values, duplicates, and outliers.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Encoded categorical features and scaled numerical data.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Split dataset into training and testing sets.</a:t>
            </a:r>
          </a:p>
          <a:p>
            <a:pPr algn="just">
              <a:lnSpc>
                <a:spcPct val="150000"/>
              </a:lnSpc>
            </a:pPr>
            <a:endParaRPr lang="en-IN" sz="1000" dirty="0"/>
          </a:p>
          <a:p>
            <a:pPr algn="just">
              <a:lnSpc>
                <a:spcPct val="150000"/>
              </a:lnSpc>
              <a:buNone/>
            </a:pPr>
            <a:r>
              <a:rPr lang="en-IN" sz="1800" b="1" dirty="0"/>
              <a:t>3. Exploratory Data Analysis (EDA)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Visualized feature distributions and correlations.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Identified factors most influencing energy consumption.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Derived insights for model selection and tuning.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9CFF7-8411-74DA-53B3-2762BBAD1B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69535" y="2901102"/>
            <a:ext cx="6320864" cy="395689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5F7A6D-342B-F54A-DC7F-054E39A14190}"/>
              </a:ext>
            </a:extLst>
          </p:cNvPr>
          <p:cNvSpPr txBox="1"/>
          <p:nvPr/>
        </p:nvSpPr>
        <p:spPr>
          <a:xfrm>
            <a:off x="276860" y="877878"/>
            <a:ext cx="10716260" cy="554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800" b="1" dirty="0"/>
              <a:t>4. Model Development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Trained multiple regression models (Elastic Net, Random Forest, KNN, </a:t>
            </a:r>
            <a:r>
              <a:rPr lang="en-IN" sz="1600" dirty="0" err="1"/>
              <a:t>XGBoost</a:t>
            </a:r>
            <a:r>
              <a:rPr lang="en-IN" sz="1600" dirty="0"/>
              <a:t>, Support Vector).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Evaluated using RMSE, and R² score.</a:t>
            </a:r>
          </a:p>
          <a:p>
            <a:pPr algn="just">
              <a:lnSpc>
                <a:spcPct val="150000"/>
              </a:lnSpc>
            </a:pPr>
            <a:endParaRPr lang="en-IN" sz="1100" b="1" dirty="0"/>
          </a:p>
          <a:p>
            <a:pPr algn="just">
              <a:lnSpc>
                <a:spcPct val="150000"/>
              </a:lnSpc>
              <a:buNone/>
            </a:pPr>
            <a:r>
              <a:rPr lang="en-IN" sz="1800" b="1" dirty="0"/>
              <a:t>5. Hyperparameter Optimization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Used </a:t>
            </a:r>
            <a:r>
              <a:rPr lang="en-IN" sz="1600" b="1" dirty="0" err="1"/>
              <a:t>Optuna</a:t>
            </a:r>
            <a:r>
              <a:rPr lang="en-IN" sz="1600" dirty="0"/>
              <a:t> to tune model parameters.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Selected the best-performing model based on test R² and error metrics.</a:t>
            </a:r>
          </a:p>
          <a:p>
            <a:pPr algn="just">
              <a:lnSpc>
                <a:spcPct val="150000"/>
              </a:lnSpc>
            </a:pPr>
            <a:endParaRPr lang="en-IN" sz="1100" dirty="0"/>
          </a:p>
          <a:p>
            <a:pPr algn="just">
              <a:lnSpc>
                <a:spcPct val="150000"/>
              </a:lnSpc>
              <a:buNone/>
            </a:pPr>
            <a:r>
              <a:rPr lang="en-IN" sz="1800" b="1" dirty="0"/>
              <a:t>6. What-If Scenario Simulation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Built a </a:t>
            </a:r>
            <a:r>
              <a:rPr lang="en-IN" sz="1600" dirty="0" err="1"/>
              <a:t>Gradio</a:t>
            </a:r>
            <a:r>
              <a:rPr lang="en-IN" sz="1600" dirty="0"/>
              <a:t>-based interface to input driving conditions (speed, weight, terrain, temperature).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Model predicts energy consumption under custom conditions.</a:t>
            </a:r>
          </a:p>
          <a:p>
            <a:pPr algn="just">
              <a:lnSpc>
                <a:spcPct val="150000"/>
              </a:lnSpc>
            </a:pPr>
            <a:endParaRPr lang="en-IN" sz="1100" dirty="0"/>
          </a:p>
          <a:p>
            <a:pPr algn="just">
              <a:lnSpc>
                <a:spcPct val="150000"/>
              </a:lnSpc>
              <a:buNone/>
            </a:pPr>
            <a:r>
              <a:rPr lang="en-IN" sz="1800" b="1" dirty="0"/>
              <a:t>7. Deployment &amp; Evaluation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Integrated final ML model into user-friendly </a:t>
            </a:r>
            <a:r>
              <a:rPr lang="en-IN" sz="1600" dirty="0" err="1"/>
              <a:t>Gradio</a:t>
            </a:r>
            <a:r>
              <a:rPr lang="en-IN" sz="1600" dirty="0"/>
              <a:t> UI.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Validated predictions by comparing actual vs predicted values.</a:t>
            </a:r>
          </a:p>
        </p:txBody>
      </p:sp>
    </p:spTree>
    <p:extLst>
      <p:ext uri="{BB962C8B-B14F-4D97-AF65-F5344CB8AC3E}">
        <p14:creationId xmlns:p14="http://schemas.microsoft.com/office/powerpoint/2010/main" val="1957711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14464" y="812214"/>
            <a:ext cx="610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13163"/>
                </a:solidFill>
              </a:rPr>
              <a:t>Problem Statement:  </a:t>
            </a:r>
            <a:endParaRPr lang="en-IN" sz="2400" b="1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1D214-A079-F57A-6B26-115C054C2F84}"/>
              </a:ext>
            </a:extLst>
          </p:cNvPr>
          <p:cNvSpPr txBox="1"/>
          <p:nvPr/>
        </p:nvSpPr>
        <p:spPr>
          <a:xfrm>
            <a:off x="214464" y="1364724"/>
            <a:ext cx="10738016" cy="524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800" b="1" dirty="0"/>
              <a:t>⚡ Rising EV Adoption, Uncertain Energy Needs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600" dirty="0"/>
              <a:t>With the rapid shift toward electric mobility, EV users still struggle with </a:t>
            </a:r>
            <a:r>
              <a:rPr lang="en-US" sz="1600" b="1" dirty="0"/>
              <a:t>inaccurate range predictions</a:t>
            </a:r>
            <a:r>
              <a:rPr lang="en-US" sz="1600" dirty="0"/>
              <a:t> and </a:t>
            </a:r>
            <a:r>
              <a:rPr lang="en-US" sz="1600" b="1" dirty="0"/>
              <a:t>unpredictable energy consumption</a:t>
            </a:r>
            <a:r>
              <a:rPr lang="en-US" sz="1600" dirty="0"/>
              <a:t> due to varying driving behaviors, weather conditions, and terrain.</a:t>
            </a:r>
          </a:p>
          <a:p>
            <a:pPr algn="just">
              <a:lnSpc>
                <a:spcPct val="150000"/>
              </a:lnSpc>
              <a:buNone/>
            </a:pPr>
            <a:endParaRPr lang="en-US" sz="700" dirty="0"/>
          </a:p>
          <a:p>
            <a:pPr algn="just">
              <a:lnSpc>
                <a:spcPct val="150000"/>
              </a:lnSpc>
              <a:buNone/>
            </a:pPr>
            <a:r>
              <a:rPr lang="en-US" sz="1800" b="1" dirty="0"/>
              <a:t>🚗 Key Challenges Faced by Stakeholders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EV Owners:</a:t>
            </a:r>
            <a:r>
              <a:rPr lang="en-US" sz="1600" dirty="0"/>
              <a:t> Experience </a:t>
            </a:r>
            <a:r>
              <a:rPr lang="en-US" sz="1600" i="1" dirty="0"/>
              <a:t>range anxiety</a:t>
            </a:r>
            <a:r>
              <a:rPr lang="en-US" sz="1600" dirty="0"/>
              <a:t> and difficulty planning long trips.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Fleet Managers:</a:t>
            </a:r>
            <a:r>
              <a:rPr lang="en-US" sz="1600" dirty="0"/>
              <a:t> Cannot accurately estimate energy usage, increasing operational costs.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EV Manufacturers:</a:t>
            </a:r>
            <a:r>
              <a:rPr lang="en-US" sz="1600" dirty="0"/>
              <a:t> Lack tools to analyze how real-world conditions affect battery performance.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Charging Infrastructure Providers:</a:t>
            </a:r>
            <a:r>
              <a:rPr lang="en-US" sz="1600" dirty="0"/>
              <a:t> Struggle to predict charging demand at different locations and times.</a:t>
            </a:r>
          </a:p>
          <a:p>
            <a:pPr algn="just">
              <a:lnSpc>
                <a:spcPct val="150000"/>
              </a:lnSpc>
            </a:pPr>
            <a:endParaRPr lang="en-US" sz="600" dirty="0"/>
          </a:p>
          <a:p>
            <a:pPr algn="just">
              <a:lnSpc>
                <a:spcPct val="150000"/>
              </a:lnSpc>
              <a:buNone/>
            </a:pPr>
            <a:r>
              <a:rPr lang="en-US" sz="1800" b="1" dirty="0"/>
              <a:t>🌍 Sustainability Impact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600" dirty="0"/>
              <a:t>Inefficient predictions lead to: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Overcharging and unnecessary energy waste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Poor route planning and higher grid load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Reduced battery lifespan due to inefficient usage patterns</a:t>
            </a: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04304" y="790252"/>
            <a:ext cx="610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13163"/>
                </a:solidFill>
              </a:rPr>
              <a:t>Solution:  </a:t>
            </a:r>
            <a:endParaRPr lang="en-IN" sz="2400" b="1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42466-51DD-5B7A-2429-E453C78B1C3D}"/>
              </a:ext>
            </a:extLst>
          </p:cNvPr>
          <p:cNvSpPr txBox="1"/>
          <p:nvPr/>
        </p:nvSpPr>
        <p:spPr>
          <a:xfrm>
            <a:off x="204304" y="1369372"/>
            <a:ext cx="10758336" cy="4969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800" b="1" dirty="0"/>
              <a:t>🔍 AI-Powered EV Energy Forecasting System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/>
              <a:t>A machine learning–driven solution that </a:t>
            </a:r>
            <a:r>
              <a:rPr lang="en-IN" sz="1600" b="1" dirty="0"/>
              <a:t>predicts EV energy consumption</a:t>
            </a:r>
            <a:r>
              <a:rPr lang="en-IN" sz="1600" dirty="0"/>
              <a:t> using factors like speed, distance, weight, weather, road type, and driving style.</a:t>
            </a:r>
          </a:p>
          <a:p>
            <a:pPr>
              <a:lnSpc>
                <a:spcPct val="150000"/>
              </a:lnSpc>
              <a:buNone/>
            </a:pPr>
            <a:endParaRPr lang="en-IN" sz="700" dirty="0"/>
          </a:p>
          <a:p>
            <a:pPr>
              <a:lnSpc>
                <a:spcPct val="150000"/>
              </a:lnSpc>
              <a:buNone/>
            </a:pPr>
            <a:r>
              <a:rPr lang="en-IN" sz="1800" b="1" dirty="0"/>
              <a:t>💡 Key Features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Accurate Energy Forecasting</a:t>
            </a:r>
            <a:r>
              <a:rPr lang="en-IN" sz="1600" dirty="0"/>
              <a:t> using optimized ML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What-If Analysis</a:t>
            </a:r>
            <a:r>
              <a:rPr lang="en-IN" sz="1600" dirty="0"/>
              <a:t> to simulate different real-world driving scenarios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Insights for Sustainable Driving</a:t>
            </a:r>
            <a:r>
              <a:rPr lang="en-IN" sz="1600" dirty="0"/>
              <a:t> (reduces energy waste and promotes green mobility)</a:t>
            </a:r>
          </a:p>
          <a:p>
            <a:pPr>
              <a:lnSpc>
                <a:spcPct val="150000"/>
              </a:lnSpc>
            </a:pPr>
            <a:endParaRPr lang="en-IN" sz="700" dirty="0"/>
          </a:p>
          <a:p>
            <a:pPr>
              <a:lnSpc>
                <a:spcPct val="150000"/>
              </a:lnSpc>
              <a:buNone/>
            </a:pPr>
            <a:r>
              <a:rPr lang="en-IN" sz="1800" b="1" dirty="0"/>
              <a:t>🌱 Green Skills Contribution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Promotes energy-efficient driving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Enables data-driven sustainability decisions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Supports greener transportation systems using AI technology</a:t>
            </a:r>
          </a:p>
          <a:p>
            <a:pPr>
              <a:lnSpc>
                <a:spcPct val="150000"/>
              </a:lnSpc>
            </a:pPr>
            <a:endParaRPr lang="en-IN" sz="300" dirty="0"/>
          </a:p>
          <a:p>
            <a:pPr>
              <a:lnSpc>
                <a:spcPct val="150000"/>
              </a:lnSpc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50946AD-AD92-DF91-0C95-09E10F056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1703811"/>
            <a:ext cx="8595360" cy="501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CB0671-03EF-435C-96DC-60B50E8E9598}"/>
              </a:ext>
            </a:extLst>
          </p:cNvPr>
          <p:cNvSpPr txBox="1"/>
          <p:nvPr/>
        </p:nvSpPr>
        <p:spPr>
          <a:xfrm>
            <a:off x="4070065" y="1234612"/>
            <a:ext cx="6101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Exploratory Data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23024" y="780481"/>
            <a:ext cx="610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13163"/>
                </a:solidFill>
              </a:rPr>
              <a:t>Screenshot of Output:  </a:t>
            </a:r>
            <a:endParaRPr lang="en-IN" sz="2400" b="1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452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05EA3D-4446-3FFC-2F2C-92851AEBA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99" y="1402080"/>
            <a:ext cx="8448363" cy="53120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6D2A93-772B-3F74-7DFC-D34B8D704B0E}"/>
              </a:ext>
            </a:extLst>
          </p:cNvPr>
          <p:cNvSpPr txBox="1"/>
          <p:nvPr/>
        </p:nvSpPr>
        <p:spPr>
          <a:xfrm>
            <a:off x="3874494" y="90627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Model Comparison Visualisation</a:t>
            </a:r>
          </a:p>
        </p:txBody>
      </p:sp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4517D2-CB71-A087-BBD4-CE775CC05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120" y="1305650"/>
            <a:ext cx="8910320" cy="5428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33D66A-BE06-A86E-ADE2-46F6BFA1D78E}"/>
              </a:ext>
            </a:extLst>
          </p:cNvPr>
          <p:cNvSpPr txBox="1"/>
          <p:nvPr/>
        </p:nvSpPr>
        <p:spPr>
          <a:xfrm>
            <a:off x="3851744" y="800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Best Model Actual Vs Predicted EV </a:t>
            </a:r>
          </a:p>
        </p:txBody>
      </p:sp>
    </p:spTree>
    <p:extLst>
      <p:ext uri="{BB962C8B-B14F-4D97-AF65-F5344CB8AC3E}">
        <p14:creationId xmlns:p14="http://schemas.microsoft.com/office/powerpoint/2010/main" val="882303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7A33D7-6BCB-3DC5-3DEC-A9F75BB48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707" y="1427978"/>
            <a:ext cx="9436585" cy="53025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38B8D7-35AC-041A-4A6E-36688E399DF1}"/>
              </a:ext>
            </a:extLst>
          </p:cNvPr>
          <p:cNvSpPr txBox="1"/>
          <p:nvPr/>
        </p:nvSpPr>
        <p:spPr>
          <a:xfrm>
            <a:off x="4249420" y="861814"/>
            <a:ext cx="6101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Interactive What-If Scenario</a:t>
            </a:r>
          </a:p>
        </p:txBody>
      </p:sp>
    </p:spTree>
    <p:extLst>
      <p:ext uri="{BB962C8B-B14F-4D97-AF65-F5344CB8AC3E}">
        <p14:creationId xmlns:p14="http://schemas.microsoft.com/office/powerpoint/2010/main" val="3366133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13163"/>
                </a:solidFill>
              </a:rPr>
              <a:t>Conclusion:  </a:t>
            </a:r>
            <a:endParaRPr lang="en-IN" sz="2400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8B9EE0-356C-F663-1CC5-F70D5DD40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87" y="1522674"/>
            <a:ext cx="11301233" cy="468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delivers an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AI-driven EV Energy Forecasting system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provides accurate and reliable predictions of energy consumption under real-world driving conditions.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enabling users to explore different scenarios through the What-If Analysis tool, the system enhances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decision-making for sustainable and cost-efficient EV usage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 directly benefits key stakeholders:</a:t>
            </a:r>
          </a:p>
          <a:p>
            <a:pPr lvl="2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EV Owners: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Better trip planning, reduced range anxiety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Fleet Operators: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Optimized routes and significantly lower operational energy costs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Manufacturers &amp; Researchers: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Deeper insights into battery performance for designing more efficient EVs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Charging Stations &amp; Smart City Planners: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Improved forecasting of charging demand, reducing grid stress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Environment &amp; Society: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Lower energy consumption, enhanced EV efficiency, and reduced carbon footprint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this project showcases how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and green skills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drive sustainable mobility, support energy-efficient transportation systems, and contribute to a cleaner future.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